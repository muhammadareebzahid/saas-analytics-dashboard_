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Noto Serif" panose="020B0604020202020204" charset="0"/>
      <p:regular r:id="rId13"/>
    </p:embeddedFont>
    <p:embeddedFont>
      <p:font typeface="Noto Serif Bold" panose="020B0604020202020204" charset="0"/>
      <p:regular r:id="rId14"/>
    </p:embeddedFont>
    <p:embeddedFont>
      <p:font typeface="Noto Serif Medium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5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690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-6.svg"/><Relationship Id="rId13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12" Type="http://schemas.openxmlformats.org/officeDocument/2006/relationships/image" Target="../media/image-3-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3-4.svg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0" Type="http://schemas.openxmlformats.org/officeDocument/2006/relationships/image" Target="../media/image-3-8.svg"/><Relationship Id="rId4" Type="http://schemas.openxmlformats.org/officeDocument/2006/relationships/image" Target="../media/image-3-2.svg"/><Relationship Id="rId9" Type="http://schemas.openxmlformats.org/officeDocument/2006/relationships/image" Target="../media/image13.png"/><Relationship Id="rId14" Type="http://schemas.openxmlformats.org/officeDocument/2006/relationships/image" Target="../media/image-3-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-5-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-5-3.svg"/><Relationship Id="rId10" Type="http://schemas.openxmlformats.org/officeDocument/2006/relationships/image" Target="../media/image19.png"/><Relationship Id="rId4" Type="http://schemas.openxmlformats.org/officeDocument/2006/relationships/image" Target="../media/image-5-3.svg"/><Relationship Id="rId9" Type="http://schemas.openxmlformats.org/officeDocument/2006/relationships/image" Target="../media/image-5-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-6-2.svg"/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6-2.svg"/><Relationship Id="rId5" Type="http://schemas.openxmlformats.org/officeDocument/2006/relationships/image" Target="../media/image-6-2.svg"/><Relationship Id="rId4" Type="http://schemas.openxmlformats.org/officeDocument/2006/relationships/image" Target="../media/image-6-2.sv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png"/><Relationship Id="rId7" Type="http://schemas.openxmlformats.org/officeDocument/2006/relationships/image" Target="../media/image-8-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-8-9.svg"/><Relationship Id="rId5" Type="http://schemas.openxmlformats.org/officeDocument/2006/relationships/image" Target="../media/image-8-3.svg"/><Relationship Id="rId10" Type="http://schemas.openxmlformats.org/officeDocument/2006/relationships/image" Target="../media/image26.png"/><Relationship Id="rId4" Type="http://schemas.openxmlformats.org/officeDocument/2006/relationships/image" Target="../media/image23.png"/><Relationship Id="rId9" Type="http://schemas.openxmlformats.org/officeDocument/2006/relationships/image" Target="../media/image-8-7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99320"/>
            <a:ext cx="491192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SaaS Analytics Dashboard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35490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End-to-End Business Intelligence Solution using </a:t>
            </a: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Power BI, PostgreSQL, SQL &amp; DAX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003426"/>
            <a:ext cx="4722763" cy="19050"/>
          </a:xfrm>
          <a:prstGeom prst="roundRect">
            <a:avLst>
              <a:gd name="adj" fmla="val 60000"/>
            </a:avLst>
          </a:prstGeom>
          <a:solidFill>
            <a:srgbClr val="4C4C4C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96119" y="3217366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By</a:t>
            </a: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: </a:t>
            </a:r>
            <a:r>
              <a:rPr lang="en-US" sz="110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Areeb Zahid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75506"/>
            <a:ext cx="759321" cy="136252"/>
          </a:xfrm>
          <a:prstGeom prst="roundRect">
            <a:avLst>
              <a:gd name="adj" fmla="val 20758"/>
            </a:avLst>
          </a:prstGeom>
          <a:noFill/>
          <a:ln/>
          <a:effectLst>
            <a:outerShdw blurRad="101600" dist="50800" dir="16200000" algn="bl" rotWithShape="0">
              <a:srgbClr val="9C9283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6571" y="500732"/>
            <a:ext cx="1115616" cy="85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0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PROJECT OVERVIEW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96119" y="631701"/>
            <a:ext cx="4482405" cy="263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Turning Raw Data into Strategic Insight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96119" y="969690"/>
            <a:ext cx="8608963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6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SaaS companies generate vast data but lack structured reporting. This project builds a complete BI pipeline — from ingestion to executive-ready dashboards — enabling data-driven decisions at scale.</a:t>
            </a:r>
            <a:endParaRPr lang="en-US" sz="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33177"/>
            <a:ext cx="420812" cy="504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6862" y="1217340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Raw Data</a:t>
            </a:r>
            <a:endParaRPr lang="en-US" sz="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638151"/>
            <a:ext cx="420812" cy="5049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6862" y="1722313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PostgreSQL</a:t>
            </a:r>
            <a:endParaRPr lang="en-US" sz="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143125"/>
            <a:ext cx="420812" cy="50497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6862" y="2227287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Power Query</a:t>
            </a:r>
            <a:endParaRPr lang="en-US" sz="8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2648099"/>
            <a:ext cx="420812" cy="50497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6862" y="2732261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 Model</a:t>
            </a:r>
            <a:endParaRPr lang="en-US" sz="8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3153073"/>
            <a:ext cx="420812" cy="50497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66862" y="3237235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DAX</a:t>
            </a:r>
            <a:endParaRPr lang="en-US" sz="8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119" y="3658046"/>
            <a:ext cx="420812" cy="50497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66862" y="3742209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Power BI Dashboard</a:t>
            </a:r>
            <a:endParaRPr lang="en-US" sz="8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119" y="4163020"/>
            <a:ext cx="420812" cy="504974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66862" y="4247183"/>
            <a:ext cx="1052140" cy="13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Business Insights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0823"/>
            <a:ext cx="1219051" cy="239018"/>
          </a:xfrm>
          <a:prstGeom prst="roundRect">
            <a:avLst>
              <a:gd name="adj" fmla="val 18372"/>
            </a:avLst>
          </a:prstGeom>
          <a:noFill/>
          <a:ln/>
          <a:effectLst>
            <a:outerShdw blurRad="101600" dist="50800" dir="16200000" algn="bl" rotWithShape="0">
              <a:srgbClr val="9C9283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74477" y="429964"/>
            <a:ext cx="151953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TECHNOLOGY STACK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77987"/>
            <a:ext cx="7688907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Enterprise-Grade Tools, Purposefully Selected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96119" y="1267048"/>
            <a:ext cx="860896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Every technology was chosen for its proven role in modern BI pipelines — from data ingestion to visualization.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96119" y="1603400"/>
            <a:ext cx="261342" cy="2613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2015282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Power BI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96119" y="2291655"/>
            <a:ext cx="400057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Primary visualization and reporting platform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647233" y="1603400"/>
            <a:ext cx="261342" cy="2613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47233" y="2015282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647233" y="2291655"/>
            <a:ext cx="400064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Relational database for structured data storage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496119" y="2733452"/>
            <a:ext cx="261342" cy="2613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6119" y="3145334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SQL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96119" y="3421707"/>
            <a:ext cx="400057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Query language for data extraction and transformation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4647233" y="2733452"/>
            <a:ext cx="261342" cy="26134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47233" y="3145334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Power Query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4647233" y="3421707"/>
            <a:ext cx="400064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ETL engine for data cleaning and shaping</a:t>
            </a:r>
            <a:endParaRPr lang="en-US" sz="10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496119" y="3863504"/>
            <a:ext cx="261342" cy="26134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96119" y="4275386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DAX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496119" y="4551759"/>
            <a:ext cx="400057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Formula language for advanced calculated metrics</a:t>
            </a:r>
            <a:endParaRPr lang="en-US" sz="10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4647233" y="3863504"/>
            <a:ext cx="261342" cy="26134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647233" y="4275386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Git &amp; GitHub</a:t>
            </a:r>
            <a:endParaRPr lang="en-US" sz="1250" dirty="0"/>
          </a:p>
        </p:txBody>
      </p:sp>
      <p:sp>
        <p:nvSpPr>
          <p:cNvPr id="23" name="Text 15"/>
          <p:cNvSpPr/>
          <p:nvPr/>
        </p:nvSpPr>
        <p:spPr>
          <a:xfrm>
            <a:off x="4647233" y="4551759"/>
            <a:ext cx="4000649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Version control and collaborative code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676424" cy="110430"/>
          </a:xfrm>
          <a:prstGeom prst="roundRect">
            <a:avLst>
              <a:gd name="adj" fmla="val 21567"/>
            </a:avLst>
          </a:prstGeom>
          <a:noFill/>
          <a:ln/>
          <a:effectLst>
            <a:outerShdw blurRad="101600" dist="50800" dir="16200000" algn="bl" rotWithShape="0">
              <a:srgbClr val="9C9283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38609" y="411063"/>
            <a:ext cx="1048643" cy="68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DATA ARCHITECTURE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4424"/>
            <a:ext cx="490031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Star Schema: Optimized for Analytical Performance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738438"/>
            <a:ext cx="398941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</a:t>
            </a:r>
            <a:r>
              <a:rPr lang="en-US" sz="5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star schema</a:t>
            </a:r>
            <a:r>
              <a:rPr lang="en-US" sz="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organizes data into a central </a:t>
            </a:r>
            <a:r>
              <a:rPr lang="en-US" sz="5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fact table</a:t>
            </a:r>
            <a:r>
              <a:rPr lang="en-US" sz="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surrounded by </a:t>
            </a:r>
            <a:r>
              <a:rPr lang="en-US" sz="5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dimension tables</a:t>
            </a:r>
            <a:r>
              <a:rPr lang="en-US" sz="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minimizing joins and accelerating query performance at scale.</a:t>
            </a:r>
            <a:endParaRPr lang="en-US" sz="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232" y="828824"/>
            <a:ext cx="3989412" cy="39894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6119" y="4897859"/>
            <a:ext cx="2693640" cy="377726"/>
          </a:xfrm>
          <a:prstGeom prst="roundRect">
            <a:avLst>
              <a:gd name="adj" fmla="val 7882"/>
            </a:avLst>
          </a:prstGeom>
          <a:solidFill>
            <a:srgbClr val="FDFBF7"/>
          </a:solidFill>
          <a:ln w="9525">
            <a:solidFill>
              <a:srgbClr val="E6DED2"/>
            </a:solidFill>
            <a:prstDash val="solid"/>
          </a:ln>
          <a:effectLst>
            <a:outerShdw blurRad="101600" dist="889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486" y="4978226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Fact Tables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576486" y="5110163"/>
            <a:ext cx="25329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Measurable events — revenue, transactions, subscriptions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3225180" y="4897859"/>
            <a:ext cx="2693640" cy="377726"/>
          </a:xfrm>
          <a:prstGeom prst="roundRect">
            <a:avLst>
              <a:gd name="adj" fmla="val 7882"/>
            </a:avLst>
          </a:prstGeom>
          <a:solidFill>
            <a:srgbClr val="FDFBF7"/>
          </a:solidFill>
          <a:ln w="9525">
            <a:solidFill>
              <a:srgbClr val="E6DED2"/>
            </a:solidFill>
            <a:prstDash val="solid"/>
          </a:ln>
          <a:effectLst>
            <a:outerShdw blurRad="101600" dist="889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05547" y="4978226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Dimension Tables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3305547" y="5110163"/>
            <a:ext cx="25329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Descriptive attributes — customer, geography, industry</a:t>
            </a:r>
            <a:endParaRPr lang="en-US" sz="550" dirty="0"/>
          </a:p>
        </p:txBody>
      </p:sp>
      <p:sp>
        <p:nvSpPr>
          <p:cNvPr id="13" name="Shape 10"/>
          <p:cNvSpPr/>
          <p:nvPr/>
        </p:nvSpPr>
        <p:spPr>
          <a:xfrm>
            <a:off x="5954241" y="4897859"/>
            <a:ext cx="2693640" cy="377726"/>
          </a:xfrm>
          <a:prstGeom prst="roundRect">
            <a:avLst>
              <a:gd name="adj" fmla="val 7882"/>
            </a:avLst>
          </a:prstGeom>
          <a:solidFill>
            <a:srgbClr val="FDFBF7"/>
          </a:solidFill>
          <a:ln w="9525">
            <a:solidFill>
              <a:srgbClr val="E6DED2"/>
            </a:solidFill>
            <a:prstDash val="solid"/>
          </a:ln>
          <a:effectLst>
            <a:outerShdw blurRad="101600" dist="889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34608" y="4978226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Relationships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6034608" y="5110163"/>
            <a:ext cx="2532906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Primary &amp; foreign keys enforce referential integrity</a:t>
            </a:r>
            <a:endParaRPr lang="en-US" sz="550" dirty="0"/>
          </a:p>
        </p:txBody>
      </p:sp>
      <p:sp>
        <p:nvSpPr>
          <p:cNvPr id="16" name="Shape 13"/>
          <p:cNvSpPr/>
          <p:nvPr/>
        </p:nvSpPr>
        <p:spPr>
          <a:xfrm>
            <a:off x="496119" y="5315396"/>
            <a:ext cx="8151763" cy="196155"/>
          </a:xfrm>
          <a:prstGeom prst="roundRect">
            <a:avLst>
              <a:gd name="adj" fmla="val 15177"/>
            </a:avLst>
          </a:prstGeom>
          <a:solidFill>
            <a:srgbClr val="E8E6E3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61" y="5403949"/>
            <a:ext cx="88553" cy="7084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26356" y="5368528"/>
            <a:ext cx="8307884" cy="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📸</a:t>
            </a:r>
            <a:r>
              <a:rPr lang="en-US" sz="550" b="1" dirty="0">
                <a:solidFill>
                  <a:srgbClr val="000000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 Placeholder:</a:t>
            </a:r>
            <a:r>
              <a:rPr lang="en-US" sz="5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INSERT DATA MODEL IMAGE — star schema ERD screenshot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1613"/>
            <a:ext cx="846386" cy="223317"/>
          </a:xfrm>
          <a:prstGeom prst="roundRect">
            <a:avLst>
              <a:gd name="adj" fmla="val 18664"/>
            </a:avLst>
          </a:prstGeom>
          <a:noFill/>
          <a:ln/>
          <a:effectLst>
            <a:outerShdw blurRad="101600" dist="50800" dir="16200000" algn="bl" rotWithShape="0">
              <a:srgbClr val="9C9283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70533" y="438820"/>
            <a:ext cx="1154757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DASHBOARD 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68313"/>
            <a:ext cx="667568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Executive Overview: Revenue at a Glance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150718" y="1327100"/>
            <a:ext cx="274974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What This Dashboard Delivers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5197227" y="1646783"/>
            <a:ext cx="186035" cy="186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53745" y="164298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KPI Cards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553745" y="1945332"/>
            <a:ext cx="3098825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Revenue, customers, ARPU — instant performance snapshot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197227" y="2538264"/>
            <a:ext cx="186035" cy="1860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553745" y="253446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Revenue Trend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553745" y="2836813"/>
            <a:ext cx="309882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Time-series line chart revealing growth trajectory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197227" y="3243709"/>
            <a:ext cx="186035" cy="18603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53745" y="3239914"/>
            <a:ext cx="20363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Geo &amp; Industry Breakdown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5553745" y="3542258"/>
            <a:ext cx="3098825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Revenue by country and industry for market prioritization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5197227" y="4135189"/>
            <a:ext cx="186035" cy="18603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553745" y="4131394"/>
            <a:ext cx="184167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Interactive Filters &amp; Nav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5553745" y="4433739"/>
            <a:ext cx="309882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Self-service exploration with page navigation</a:t>
            </a:r>
            <a:endParaRPr lang="en-US" sz="95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33" y="1520949"/>
            <a:ext cx="4317923" cy="24242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4887"/>
            <a:ext cx="876746" cy="233660"/>
          </a:xfrm>
          <a:prstGeom prst="roundRect">
            <a:avLst>
              <a:gd name="adj" fmla="val 18475"/>
            </a:avLst>
          </a:prstGeom>
          <a:noFill/>
          <a:ln/>
          <a:effectLst>
            <a:outerShdw blurRad="101600" dist="50800" dir="16200000" algn="bl" rotWithShape="0">
              <a:srgbClr val="9C9283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73137" y="443359"/>
            <a:ext cx="1179909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0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DASHBOARD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85056"/>
            <a:ext cx="6182395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Customer Analytics: Know Your Base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96119" y="1377479"/>
            <a:ext cx="325129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Segmentation That Drives Decisions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96119" y="1709142"/>
            <a:ext cx="1689720" cy="13910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5995" y="1851868"/>
            <a:ext cx="1347118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Industry &amp; Company Size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95995" y="2369641"/>
            <a:ext cx="1347118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Distribution by segment for targeting and positioning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302222" y="1709142"/>
            <a:ext cx="1689795" cy="139102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02098" y="1851868"/>
            <a:ext cx="1347192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New Customer Trend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2502098" y="2369641"/>
            <a:ext cx="1347192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Acquisition velocity over time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96119" y="3216548"/>
            <a:ext cx="1689720" cy="13910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5995" y="3359274"/>
            <a:ext cx="1347118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Top Countries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95995" y="3676352"/>
            <a:ext cx="1347118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Geographic concentration and expansion opportunities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2302222" y="3216548"/>
            <a:ext cx="1689795" cy="139102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502098" y="3359274"/>
            <a:ext cx="1347192" cy="401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Performance Table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2502098" y="3877047"/>
            <a:ext cx="1347192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Granular customer-level data for account reviews</a:t>
            </a:r>
            <a:endParaRPr lang="en-US" sz="10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0646" y="1377479"/>
            <a:ext cx="4667416" cy="26013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32358"/>
            <a:ext cx="1472654" cy="249882"/>
          </a:xfrm>
          <a:prstGeom prst="roundRect">
            <a:avLst>
              <a:gd name="adj" fmla="val 18169"/>
            </a:avLst>
          </a:prstGeom>
          <a:noFill/>
          <a:ln/>
          <a:effectLst>
            <a:outerShdw blurRad="101600" dist="50800" dir="16200000" algn="bl" rotWithShape="0">
              <a:srgbClr val="9C9283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77155" y="572839"/>
            <a:ext cx="1767780" cy="1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PERFORMANCE METRICS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33735"/>
            <a:ext cx="5050185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Key Performance Indicators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496119" y="1449214"/>
            <a:ext cx="860896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Six KPIs form the analytical backbone — each tied to a specific business decision.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96119" y="1805211"/>
            <a:ext cx="4011513" cy="990228"/>
          </a:xfrm>
          <a:prstGeom prst="roundRect">
            <a:avLst>
              <a:gd name="adj" fmla="val 5731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blurRad="101600"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5943" y="1945035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5943" y="2233389"/>
            <a:ext cx="373186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Gross revenue across all segments — primary growth indicator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6368" y="1805211"/>
            <a:ext cx="4011513" cy="990228"/>
          </a:xfrm>
          <a:prstGeom prst="roundRect">
            <a:avLst>
              <a:gd name="adj" fmla="val 5731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blurRad="101600"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76192" y="1945035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Total Customers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76192" y="2233389"/>
            <a:ext cx="37318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Full customer base — market reach and scale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6119" y="2924175"/>
            <a:ext cx="4011513" cy="779115"/>
          </a:xfrm>
          <a:prstGeom prst="roundRect">
            <a:avLst>
              <a:gd name="adj" fmla="val 7284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blurRad="101600"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943" y="3063999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Active Customers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943" y="3352354"/>
            <a:ext cx="37318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Currently subscribed — engagement and retention health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36368" y="2924175"/>
            <a:ext cx="4011513" cy="779115"/>
          </a:xfrm>
          <a:prstGeom prst="roundRect">
            <a:avLst>
              <a:gd name="adj" fmla="val 7284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blurRad="101600"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76192" y="3063999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ARPU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76192" y="3352354"/>
            <a:ext cx="37318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Average revenue per user — pricing and upsell efficiency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96119" y="3832027"/>
            <a:ext cx="4011513" cy="779115"/>
          </a:xfrm>
          <a:prstGeom prst="roundRect">
            <a:avLst>
              <a:gd name="adj" fmla="val 7284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blurRad="101600"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5943" y="3971851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Churn Rate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943" y="4260205"/>
            <a:ext cx="37318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Subscription loss rate — retention and satisfaction signal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36368" y="3832027"/>
            <a:ext cx="4011513" cy="779115"/>
          </a:xfrm>
          <a:prstGeom prst="roundRect">
            <a:avLst>
              <a:gd name="adj" fmla="val 7284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blurRad="101600"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76192" y="3971851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Revenue Growth 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76192" y="4260205"/>
            <a:ext cx="373186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Period-over-period growth — momentum and trajectory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408756"/>
            <a:ext cx="1421383" cy="233660"/>
          </a:xfrm>
          <a:prstGeom prst="roundRect">
            <a:avLst>
              <a:gd name="adj" fmla="val 18475"/>
            </a:avLst>
          </a:prstGeom>
          <a:noFill/>
          <a:ln/>
          <a:effectLst>
            <a:outerShdw blurRad="101600" dist="50800" dir="16200000" algn="bl" rotWithShape="0">
              <a:srgbClr val="9C9283">
                <a:alpha val="10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4002137" y="447229"/>
            <a:ext cx="1724546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0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BUSINESS INTELLIGENCE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925119" y="688925"/>
            <a:ext cx="4722763" cy="80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Key Insights: What the Data Reveals</a:t>
            </a:r>
            <a:endParaRPr lang="en-US" sz="2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925119" y="1688902"/>
            <a:ext cx="192658" cy="1926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34160" y="1694483"/>
            <a:ext cx="215592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Consistent Revenue Growth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234160" y="1964978"/>
            <a:ext cx="441372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Upward trajectory confirms product-market fit and pricing effectiveness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3925119" y="2612157"/>
            <a:ext cx="192658" cy="19265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234160" y="2617738"/>
            <a:ext cx="204028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Geographic Concentration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4234160" y="2888233"/>
            <a:ext cx="441372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One dominant market reveals expansion opportunities in underpenetrated regions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3925119" y="3535412"/>
            <a:ext cx="192658" cy="19265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234160" y="3540993"/>
            <a:ext cx="198120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Leading Industry Vertical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4234160" y="3811488"/>
            <a:ext cx="441372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primary customer segment guides go-to-market and sales focus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3925119" y="4262735"/>
            <a:ext cx="192658" cy="19265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234160" y="4268316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Strong Active Rate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4234160" y="4538811"/>
            <a:ext cx="4413721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High active-to-total ratio signals strong retention and product stickiness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025575"/>
            <a:ext cx="933524" cy="266402"/>
          </a:xfrm>
          <a:prstGeom prst="roundRect">
            <a:avLst>
              <a:gd name="adj" fmla="val 17880"/>
            </a:avLst>
          </a:prstGeom>
          <a:noFill/>
          <a:ln/>
          <a:effectLst>
            <a:outerShdw blurRad="101600" dist="50800" dir="16200000" algn="bl" rotWithShape="0">
              <a:srgbClr val="9C9283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81174" y="1068065"/>
            <a:ext cx="122061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CAPABILITIES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348680"/>
            <a:ext cx="706926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Skills Demonstrated Across the Project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394022" y="2004268"/>
            <a:ext cx="4107135" cy="2113657"/>
          </a:xfrm>
          <a:prstGeom prst="roundRect">
            <a:avLst>
              <a:gd name="adj" fmla="val 4829"/>
            </a:avLst>
          </a:prstGeom>
          <a:solidFill>
            <a:srgbClr val="9C9283"/>
          </a:solidFill>
          <a:ln/>
        </p:spPr>
      </p:sp>
      <p:sp>
        <p:nvSpPr>
          <p:cNvPr id="6" name="Text 4"/>
          <p:cNvSpPr/>
          <p:nvPr/>
        </p:nvSpPr>
        <p:spPr>
          <a:xfrm>
            <a:off x="535781" y="214602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Technical Skills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5781" y="2509242"/>
            <a:ext cx="3823618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Power BI — reports, data modeling, DAX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SQL &amp; PostgreSQL — queries, schema design, optimization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DAX — time intelligence, calculated measures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Power Query — ETL, data transformation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Git &amp; GitHub — version control, collaboration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49701" y="2146027"/>
            <a:ext cx="280459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Business &amp; Analytical Skills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49701" y="2509242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Dashboard Design — UX, layout, visual hierarchy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Business Intelligence — KPI frameworks, metrics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Data Storytelling — narrative-driven insights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Data Visualization — chart selection, best practices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Problem Solving &amp; Analytical Thinking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12552"/>
            <a:ext cx="712440" cy="249882"/>
          </a:xfrm>
          <a:prstGeom prst="roundRect">
            <a:avLst>
              <a:gd name="adj" fmla="val 18169"/>
            </a:avLst>
          </a:prstGeom>
          <a:noFill/>
          <a:ln/>
          <a:effectLst>
            <a:outerShdw blurRad="101600" dist="50800" dir="16200000" algn="bl" rotWithShape="0">
              <a:srgbClr val="9C9283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77155" y="453033"/>
            <a:ext cx="1007566" cy="1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SUMMARY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13929"/>
            <a:ext cx="4812357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What This Project Delivers</a:t>
            </a:r>
            <a:endParaRPr lang="en-US" sz="2650" dirty="0"/>
          </a:p>
        </p:txBody>
      </p:sp>
      <p:sp>
        <p:nvSpPr>
          <p:cNvPr id="5" name="Shape 3"/>
          <p:cNvSpPr/>
          <p:nvPr/>
        </p:nvSpPr>
        <p:spPr>
          <a:xfrm>
            <a:off x="496119" y="1329407"/>
            <a:ext cx="2631430" cy="999753"/>
          </a:xfrm>
          <a:prstGeom prst="roundRect">
            <a:avLst>
              <a:gd name="adj" fmla="val 5677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blurRad="101600"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35943" y="1469231"/>
            <a:ext cx="1875681" cy="220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3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 End-to-End Pipeline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5943" y="1767111"/>
            <a:ext cx="2351782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Full BI workflow — ingestion to insight — production-ready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56285" y="1329407"/>
            <a:ext cx="2631430" cy="999753"/>
          </a:xfrm>
          <a:prstGeom prst="roundRect">
            <a:avLst>
              <a:gd name="adj" fmla="val 5677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blurRad="101600"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96109" y="1469231"/>
            <a:ext cx="2073176" cy="220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3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 Executive Dashboards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96109" y="1767111"/>
            <a:ext cx="2351782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Two interactive reports with KPIs, trends, and segmentation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16451" y="1329407"/>
            <a:ext cx="2631430" cy="999753"/>
          </a:xfrm>
          <a:prstGeom prst="roundRect">
            <a:avLst>
              <a:gd name="adj" fmla="val 5677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prstDash val="solid"/>
          </a:ln>
          <a:effectLst>
            <a:outerShdw blurRad="101600" dist="17780" dir="2700000" algn="bl" rotWithShape="0">
              <a:srgbClr val="CCC4B8">
                <a:alpha val="1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56275" y="1469231"/>
            <a:ext cx="1688976" cy="220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r>
              <a:rPr lang="en-US" sz="1300" dirty="0">
                <a:solidFill>
                  <a:srgbClr val="000000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 Future Roadmap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56275" y="1767111"/>
            <a:ext cx="2351782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Power BI Service deployment, forecasting, and row-level security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6119" y="2507754"/>
            <a:ext cx="8151763" cy="19050"/>
          </a:xfrm>
          <a:prstGeom prst="roundRect">
            <a:avLst>
              <a:gd name="adj" fmla="val 60000"/>
            </a:avLst>
          </a:prstGeom>
          <a:solidFill>
            <a:srgbClr val="4C4C4C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96119" y="2753692"/>
            <a:ext cx="3159621" cy="337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Thank You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96119" y="3284711"/>
            <a:ext cx="8151763" cy="778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This project demonstrates the ability to design and deliver enterprise-grade BI solutions — from data engineering to executive storytelling.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Areeb Zahid</a:t>
            </a:r>
            <a:r>
              <a:rPr lang="en-US" sz="10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· Business Analytics Portfolio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6119" y="4207818"/>
            <a:ext cx="8151763" cy="523131"/>
          </a:xfrm>
          <a:prstGeom prst="roundRect">
            <a:avLst>
              <a:gd name="adj" fmla="val 10848"/>
            </a:avLst>
          </a:prstGeom>
          <a:solidFill>
            <a:srgbClr val="D9D9D9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80" y="4396457"/>
            <a:ext cx="168846" cy="13506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35087" y="4370263"/>
            <a:ext cx="803493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Questions?</a:t>
            </a:r>
            <a:r>
              <a:rPr lang="en-US" sz="1050" dirty="0">
                <a:solidFill>
                  <a:srgbClr val="000000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Available for portfolio reviews, technical interviews, and project discussions.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631</Words>
  <Application>Microsoft Office PowerPoint</Application>
  <PresentationFormat>On-screen Show (16:9)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Noto Serif</vt:lpstr>
      <vt:lpstr>Noto Serif Bold</vt:lpstr>
      <vt:lpstr>Arial</vt:lpstr>
      <vt:lpstr>Noto Serif Medium</vt:lpstr>
      <vt:lpstr>Calibri</vt:lpstr>
      <vt:lpstr>Twemoji Mozilla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pcs</cp:lastModifiedBy>
  <cp:revision>2</cp:revision>
  <dcterms:created xsi:type="dcterms:W3CDTF">2026-06-30T08:33:22Z</dcterms:created>
  <dcterms:modified xsi:type="dcterms:W3CDTF">2026-06-30T08:35:17Z</dcterms:modified>
</cp:coreProperties>
</file>